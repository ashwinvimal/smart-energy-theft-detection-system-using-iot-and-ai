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7"/>
  </p:notesMasterIdLst>
  <p:sldIdLst>
    <p:sldId id="256" r:id="rId2"/>
    <p:sldId id="257" r:id="rId3"/>
    <p:sldId id="258" r:id="rId4"/>
    <p:sldId id="284" r:id="rId5"/>
    <p:sldId id="295" r:id="rId6"/>
    <p:sldId id="279" r:id="rId7"/>
    <p:sldId id="285" r:id="rId8"/>
    <p:sldId id="277" r:id="rId9"/>
    <p:sldId id="286" r:id="rId10"/>
    <p:sldId id="287" r:id="rId11"/>
    <p:sldId id="290" r:id="rId12"/>
    <p:sldId id="294" r:id="rId13"/>
    <p:sldId id="291" r:id="rId14"/>
    <p:sldId id="293" r:id="rId15"/>
    <p:sldId id="26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E97CE6-D0D3-44AD-874F-1C78F0CB5C32}" v="55" dt="2026-02-05T17:22:13.5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382" autoAdjust="0"/>
    <p:restoredTop sz="94660"/>
  </p:normalViewPr>
  <p:slideViewPr>
    <p:cSldViewPr snapToGrid="0">
      <p:cViewPr varScale="1">
        <p:scale>
          <a:sx n="91" d="100"/>
          <a:sy n="91" d="100"/>
        </p:scale>
        <p:origin x="1410"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1365797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59520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0138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111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938953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a:extLst>
            <a:ext uri="{FF2B5EF4-FFF2-40B4-BE49-F238E27FC236}">
              <a16:creationId xmlns:a16="http://schemas.microsoft.com/office/drawing/2014/main" id="{445D5DC6-4205-E1CA-23E8-1B2F308C364D}"/>
            </a:ext>
          </a:extLst>
        </p:cNvPr>
        <p:cNvGrpSpPr/>
        <p:nvPr/>
      </p:nvGrpSpPr>
      <p:grpSpPr>
        <a:xfrm>
          <a:off x="0" y="0"/>
          <a:ext cx="0" cy="0"/>
          <a:chOff x="0" y="0"/>
          <a:chExt cx="0" cy="0"/>
        </a:xfrm>
      </p:grpSpPr>
      <p:sp>
        <p:nvSpPr>
          <p:cNvPr id="103" name="Google Shape;103;p3:notes">
            <a:extLst>
              <a:ext uri="{FF2B5EF4-FFF2-40B4-BE49-F238E27FC236}">
                <a16:creationId xmlns:a16="http://schemas.microsoft.com/office/drawing/2014/main" id="{5D957E9C-F472-2E7C-D3BE-C21FF57804F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a:extLst>
              <a:ext uri="{FF2B5EF4-FFF2-40B4-BE49-F238E27FC236}">
                <a16:creationId xmlns:a16="http://schemas.microsoft.com/office/drawing/2014/main" id="{BB3AF72A-7DD1-C339-85C5-815CA2D2789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55614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93D66C12-4512-E512-AEF6-6E3B4B9E5235}"/>
            </a:ext>
          </a:extLst>
        </p:cNvPr>
        <p:cNvGrpSpPr/>
        <p:nvPr/>
      </p:nvGrpSpPr>
      <p:grpSpPr>
        <a:xfrm>
          <a:off x="0" y="0"/>
          <a:ext cx="0" cy="0"/>
          <a:chOff x="0" y="0"/>
          <a:chExt cx="0" cy="0"/>
        </a:xfrm>
      </p:grpSpPr>
      <p:sp>
        <p:nvSpPr>
          <p:cNvPr id="109" name="Google Shape;109;g3747886215e_1_0:notes">
            <a:extLst>
              <a:ext uri="{FF2B5EF4-FFF2-40B4-BE49-F238E27FC236}">
                <a16:creationId xmlns:a16="http://schemas.microsoft.com/office/drawing/2014/main" id="{56845BCD-7759-CDC7-7434-6BB79B04DE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47886215e_1_0:notes">
            <a:extLst>
              <a:ext uri="{FF2B5EF4-FFF2-40B4-BE49-F238E27FC236}">
                <a16:creationId xmlns:a16="http://schemas.microsoft.com/office/drawing/2014/main" id="{DFD21896-7802-A732-B684-EE40C554AA6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g3747886215e_1_0:notes">
            <a:extLst>
              <a:ext uri="{FF2B5EF4-FFF2-40B4-BE49-F238E27FC236}">
                <a16:creationId xmlns:a16="http://schemas.microsoft.com/office/drawing/2014/main" id="{456B43EC-2905-231C-A29F-F9B83DA7F3A2}"/>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Tree>
    <p:extLst>
      <p:ext uri="{BB962C8B-B14F-4D97-AF65-F5344CB8AC3E}">
        <p14:creationId xmlns:p14="http://schemas.microsoft.com/office/powerpoint/2010/main" val="3829516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747886215e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47886215e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g3747886215e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spTree>
    <p:extLst>
      <p:ext uri="{BB962C8B-B14F-4D97-AF65-F5344CB8AC3E}">
        <p14:creationId xmlns:p14="http://schemas.microsoft.com/office/powerpoint/2010/main" val="2453673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677E3128-12F2-D1C9-AA52-5D90CD9D3BDD}"/>
            </a:ext>
          </a:extLst>
        </p:cNvPr>
        <p:cNvGrpSpPr/>
        <p:nvPr/>
      </p:nvGrpSpPr>
      <p:grpSpPr>
        <a:xfrm>
          <a:off x="0" y="0"/>
          <a:ext cx="0" cy="0"/>
          <a:chOff x="0" y="0"/>
          <a:chExt cx="0" cy="0"/>
        </a:xfrm>
      </p:grpSpPr>
      <p:sp>
        <p:nvSpPr>
          <p:cNvPr id="97" name="Google Shape;97;p2:notes">
            <a:extLst>
              <a:ext uri="{FF2B5EF4-FFF2-40B4-BE49-F238E27FC236}">
                <a16:creationId xmlns:a16="http://schemas.microsoft.com/office/drawing/2014/main" id="{5B130A9A-F826-56F0-C4C8-368EB2D4F5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a:extLst>
              <a:ext uri="{FF2B5EF4-FFF2-40B4-BE49-F238E27FC236}">
                <a16:creationId xmlns:a16="http://schemas.microsoft.com/office/drawing/2014/main" id="{C18875DE-60EC-469B-1355-E1E03ABF9C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2825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B30E825F-A25F-C6E5-0B79-DA1E0EB31636}"/>
            </a:ext>
          </a:extLst>
        </p:cNvPr>
        <p:cNvGrpSpPr/>
        <p:nvPr/>
      </p:nvGrpSpPr>
      <p:grpSpPr>
        <a:xfrm>
          <a:off x="0" y="0"/>
          <a:ext cx="0" cy="0"/>
          <a:chOff x="0" y="0"/>
          <a:chExt cx="0" cy="0"/>
        </a:xfrm>
      </p:grpSpPr>
      <p:sp>
        <p:nvSpPr>
          <p:cNvPr id="97" name="Google Shape;97;p2:notes">
            <a:extLst>
              <a:ext uri="{FF2B5EF4-FFF2-40B4-BE49-F238E27FC236}">
                <a16:creationId xmlns:a16="http://schemas.microsoft.com/office/drawing/2014/main" id="{A1368DDF-DEF7-98BA-95F6-9D740DA817E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a:extLst>
              <a:ext uri="{FF2B5EF4-FFF2-40B4-BE49-F238E27FC236}">
                <a16:creationId xmlns:a16="http://schemas.microsoft.com/office/drawing/2014/main" id="{B45AB51B-5E5D-7779-7370-B3E47614529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948493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a:extLst>
            <a:ext uri="{FF2B5EF4-FFF2-40B4-BE49-F238E27FC236}">
              <a16:creationId xmlns:a16="http://schemas.microsoft.com/office/drawing/2014/main" id="{93D66C12-4512-E512-AEF6-6E3B4B9E5235}"/>
            </a:ext>
          </a:extLst>
        </p:cNvPr>
        <p:cNvGrpSpPr/>
        <p:nvPr/>
      </p:nvGrpSpPr>
      <p:grpSpPr>
        <a:xfrm>
          <a:off x="0" y="0"/>
          <a:ext cx="0" cy="0"/>
          <a:chOff x="0" y="0"/>
          <a:chExt cx="0" cy="0"/>
        </a:xfrm>
      </p:grpSpPr>
      <p:sp>
        <p:nvSpPr>
          <p:cNvPr id="109" name="Google Shape;109;g3747886215e_1_0:notes">
            <a:extLst>
              <a:ext uri="{FF2B5EF4-FFF2-40B4-BE49-F238E27FC236}">
                <a16:creationId xmlns:a16="http://schemas.microsoft.com/office/drawing/2014/main" id="{56845BCD-7759-CDC7-7434-6BB79B04DE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747886215e_1_0:notes">
            <a:extLst>
              <a:ext uri="{FF2B5EF4-FFF2-40B4-BE49-F238E27FC236}">
                <a16:creationId xmlns:a16="http://schemas.microsoft.com/office/drawing/2014/main" id="{DFD21896-7802-A732-B684-EE40C554AA6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g3747886215e_1_0:notes">
            <a:extLst>
              <a:ext uri="{FF2B5EF4-FFF2-40B4-BE49-F238E27FC236}">
                <a16:creationId xmlns:a16="http://schemas.microsoft.com/office/drawing/2014/main" id="{456B43EC-2905-231C-A29F-F9B83DA7F3A2}"/>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Tree>
    <p:extLst>
      <p:ext uri="{BB962C8B-B14F-4D97-AF65-F5344CB8AC3E}">
        <p14:creationId xmlns:p14="http://schemas.microsoft.com/office/powerpoint/2010/main" val="2136775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5BFB2615-5C18-432F-170D-A3BFBFA54BE4}"/>
            </a:ext>
          </a:extLst>
        </p:cNvPr>
        <p:cNvGrpSpPr/>
        <p:nvPr/>
      </p:nvGrpSpPr>
      <p:grpSpPr>
        <a:xfrm>
          <a:off x="0" y="0"/>
          <a:ext cx="0" cy="0"/>
          <a:chOff x="0" y="0"/>
          <a:chExt cx="0" cy="0"/>
        </a:xfrm>
      </p:grpSpPr>
      <p:sp>
        <p:nvSpPr>
          <p:cNvPr id="97" name="Google Shape;97;p2:notes">
            <a:extLst>
              <a:ext uri="{FF2B5EF4-FFF2-40B4-BE49-F238E27FC236}">
                <a16:creationId xmlns:a16="http://schemas.microsoft.com/office/drawing/2014/main" id="{35C86943-D62F-F2C7-7B77-B7F650051E3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a:extLst>
              <a:ext uri="{FF2B5EF4-FFF2-40B4-BE49-F238E27FC236}">
                <a16:creationId xmlns:a16="http://schemas.microsoft.com/office/drawing/2014/main" id="{3FC43654-9681-D874-128A-94248184662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97794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C307F25B-9065-EA43-44E4-4306A66B8728}"/>
            </a:ext>
          </a:extLst>
        </p:cNvPr>
        <p:cNvGrpSpPr/>
        <p:nvPr/>
      </p:nvGrpSpPr>
      <p:grpSpPr>
        <a:xfrm>
          <a:off x="0" y="0"/>
          <a:ext cx="0" cy="0"/>
          <a:chOff x="0" y="0"/>
          <a:chExt cx="0" cy="0"/>
        </a:xfrm>
      </p:grpSpPr>
      <p:sp>
        <p:nvSpPr>
          <p:cNvPr id="97" name="Google Shape;97;p2:notes">
            <a:extLst>
              <a:ext uri="{FF2B5EF4-FFF2-40B4-BE49-F238E27FC236}">
                <a16:creationId xmlns:a16="http://schemas.microsoft.com/office/drawing/2014/main" id="{791C95D6-66EA-4039-FE2F-B00A5C5CD3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a:extLst>
              <a:ext uri="{FF2B5EF4-FFF2-40B4-BE49-F238E27FC236}">
                <a16:creationId xmlns:a16="http://schemas.microsoft.com/office/drawing/2014/main" id="{727E078C-5152-939D-F2A6-23D326995C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97665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877F0A8A-B980-524F-432E-51C91C5A3894}"/>
            </a:ext>
          </a:extLst>
        </p:cNvPr>
        <p:cNvGrpSpPr/>
        <p:nvPr/>
      </p:nvGrpSpPr>
      <p:grpSpPr>
        <a:xfrm>
          <a:off x="0" y="0"/>
          <a:ext cx="0" cy="0"/>
          <a:chOff x="0" y="0"/>
          <a:chExt cx="0" cy="0"/>
        </a:xfrm>
      </p:grpSpPr>
      <p:sp>
        <p:nvSpPr>
          <p:cNvPr id="97" name="Google Shape;97;p2:notes">
            <a:extLst>
              <a:ext uri="{FF2B5EF4-FFF2-40B4-BE49-F238E27FC236}">
                <a16:creationId xmlns:a16="http://schemas.microsoft.com/office/drawing/2014/main" id="{3FAA08C9-4EFE-F9DD-BF8C-1C3D5F6A68B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a:extLst>
              <a:ext uri="{FF2B5EF4-FFF2-40B4-BE49-F238E27FC236}">
                <a16:creationId xmlns:a16="http://schemas.microsoft.com/office/drawing/2014/main" id="{82BDF14E-F676-C80D-C9FC-3953E2D004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73964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9BD3B39D-31DE-AA0A-9112-EE0EF9B84BA0}"/>
            </a:ext>
          </a:extLst>
        </p:cNvPr>
        <p:cNvGrpSpPr/>
        <p:nvPr/>
      </p:nvGrpSpPr>
      <p:grpSpPr>
        <a:xfrm>
          <a:off x="0" y="0"/>
          <a:ext cx="0" cy="0"/>
          <a:chOff x="0" y="0"/>
          <a:chExt cx="0" cy="0"/>
        </a:xfrm>
      </p:grpSpPr>
      <p:sp>
        <p:nvSpPr>
          <p:cNvPr id="97" name="Google Shape;97;p2:notes">
            <a:extLst>
              <a:ext uri="{FF2B5EF4-FFF2-40B4-BE49-F238E27FC236}">
                <a16:creationId xmlns:a16="http://schemas.microsoft.com/office/drawing/2014/main" id="{60A24D15-C314-C333-9268-69B0191C07E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2:notes">
            <a:extLst>
              <a:ext uri="{FF2B5EF4-FFF2-40B4-BE49-F238E27FC236}">
                <a16:creationId xmlns:a16="http://schemas.microsoft.com/office/drawing/2014/main" id="{88DC12BB-C3C3-B8A7-5AE7-83FCD90CC23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9158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1" name="Google Shape;16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98226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9" name="Google Shape;39;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2"/>
        <p:cNvGrpSpPr/>
        <p:nvPr/>
      </p:nvGrpSpPr>
      <p:grpSpPr>
        <a:xfrm>
          <a:off x="0" y="0"/>
          <a:ext cx="0" cy="0"/>
          <a:chOff x="0" y="0"/>
          <a:chExt cx="0" cy="0"/>
        </a:xfrm>
      </p:grpSpPr>
      <p:sp>
        <p:nvSpPr>
          <p:cNvPr id="43" name="Google Shape;4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4" name="Google Shape;54;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42198420"/>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60" r:id="rId10"/>
  </p:sldLayoutIdLst>
  <p:transition spd="slow">
    <p:fade/>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subTitle" idx="1"/>
          </p:nvPr>
        </p:nvSpPr>
        <p:spPr>
          <a:xfrm>
            <a:off x="609599" y="2231290"/>
            <a:ext cx="10972800" cy="1096858"/>
          </a:xfrm>
          <a:prstGeom prst="rect">
            <a:avLst/>
          </a:prstGeom>
          <a:noFill/>
          <a:ln>
            <a:noFill/>
          </a:ln>
        </p:spPr>
        <p:txBody>
          <a:bodyPr spcFirstLastPara="1" wrap="square" lIns="91425" tIns="45700" rIns="91425" bIns="45700" anchor="t" anchorCtr="0">
            <a:noAutofit/>
          </a:bodyPr>
          <a:lstStyle/>
          <a:p>
            <a:pPr marL="0" lvl="0" indent="0" algn="ctr" rtl="0">
              <a:lnSpc>
                <a:spcPct val="150000"/>
              </a:lnSpc>
              <a:spcBef>
                <a:spcPts val="0"/>
              </a:spcBef>
              <a:spcAft>
                <a:spcPts val="0"/>
              </a:spcAft>
              <a:buClr>
                <a:schemeClr val="dk1"/>
              </a:buClr>
              <a:buSzPts val="2400"/>
              <a:buNone/>
            </a:pPr>
            <a:r>
              <a:rPr lang="en-US" sz="2000" b="1" dirty="0">
                <a:latin typeface="Times New Roman"/>
                <a:ea typeface="Times New Roman"/>
                <a:cs typeface="Times New Roman"/>
                <a:sym typeface="Times New Roman"/>
              </a:rPr>
              <a:t>DEPARTMENT OF COMPUTER SCIENCE ENGINEERING (ARTIFICIAL INTELLIGENCE AND MACHINE LEARNING)</a:t>
            </a:r>
            <a:endParaRPr lang="en-US" sz="2000" dirty="0"/>
          </a:p>
        </p:txBody>
      </p:sp>
      <p:sp>
        <p:nvSpPr>
          <p:cNvPr id="89" name="Google Shape;89;p13"/>
          <p:cNvSpPr txBox="1"/>
          <p:nvPr/>
        </p:nvSpPr>
        <p:spPr>
          <a:xfrm>
            <a:off x="2287613" y="3705210"/>
            <a:ext cx="7343600" cy="556652"/>
          </a:xfrm>
          <a:prstGeom prst="rect">
            <a:avLst/>
          </a:prstGeom>
          <a:noFill/>
          <a:ln>
            <a:noFill/>
          </a:ln>
          <a:effectLst>
            <a:outerShdw blurRad="25400">
              <a:srgbClr val="000000">
                <a:alpha val="45490"/>
              </a:srgbClr>
            </a:outerShdw>
          </a:effectLst>
        </p:spPr>
        <p:txBody>
          <a:bodyPr spcFirstLastPara="1" wrap="square" lIns="91425" tIns="45700" rIns="91425" bIns="45700" anchor="b" anchorCtr="0">
            <a:noAutofit/>
          </a:bodyPr>
          <a:lstStyle/>
          <a:p>
            <a:pPr marL="0" marR="0" lvl="0" indent="0" algn="ctr" rtl="0">
              <a:lnSpc>
                <a:spcPct val="100000"/>
              </a:lnSpc>
              <a:spcBef>
                <a:spcPts val="0"/>
              </a:spcBef>
              <a:spcAft>
                <a:spcPts val="0"/>
              </a:spcAft>
              <a:buClr>
                <a:schemeClr val="dk2"/>
              </a:buClr>
              <a:buSzPts val="3200"/>
              <a:buFont typeface="Calibri"/>
              <a:buNone/>
            </a:pPr>
            <a:endParaRPr sz="3200" b="1" i="0" u="sng" strike="noStrike" cap="none">
              <a:solidFill>
                <a:schemeClr val="dk1"/>
              </a:solidFill>
              <a:latin typeface="Times New Roman"/>
              <a:ea typeface="Times New Roman"/>
              <a:cs typeface="Times New Roman"/>
              <a:sym typeface="Times New Roman"/>
            </a:endParaRPr>
          </a:p>
        </p:txBody>
      </p:sp>
      <p:sp>
        <p:nvSpPr>
          <p:cNvPr id="90" name="Google Shape;90;p13"/>
          <p:cNvSpPr txBox="1"/>
          <p:nvPr/>
        </p:nvSpPr>
        <p:spPr>
          <a:xfrm>
            <a:off x="530623" y="4236688"/>
            <a:ext cx="4262279" cy="419080"/>
          </a:xfrm>
          <a:prstGeom prst="rect">
            <a:avLst/>
          </a:prstGeom>
          <a:noFill/>
          <a:ln>
            <a:noFill/>
          </a:ln>
          <a:effectLst>
            <a:outerShdw blurRad="25400">
              <a:srgbClr val="000000">
                <a:alpha val="45490"/>
              </a:srgbClr>
            </a:outerShdw>
          </a:effectLst>
        </p:spPr>
        <p:txBody>
          <a:bodyPr spcFirstLastPara="1" wrap="square" lIns="91425" tIns="45700" rIns="91425" bIns="45700" anchor="t" anchorCtr="0">
            <a:noAutofit/>
          </a:bodyPr>
          <a:lstStyle/>
          <a:p>
            <a:pPr marL="36900" marR="0" lvl="0" indent="0" algn="ctr" rtl="0">
              <a:lnSpc>
                <a:spcPct val="100000"/>
              </a:lnSpc>
              <a:spcBef>
                <a:spcPts val="0"/>
              </a:spcBef>
              <a:spcAft>
                <a:spcPts val="0"/>
              </a:spcAft>
              <a:buClr>
                <a:schemeClr val="dk2"/>
              </a:buClr>
              <a:buSzPts val="1960"/>
              <a:buFont typeface="Noto Sans Symbols"/>
              <a:buNone/>
            </a:pPr>
            <a:r>
              <a:rPr lang="en-US" sz="2800" b="1" i="0" u="none" strike="noStrike" cap="none" dirty="0">
                <a:solidFill>
                  <a:schemeClr val="dk1"/>
                </a:solidFill>
                <a:latin typeface="Times New Roman"/>
                <a:ea typeface="Times New Roman"/>
                <a:cs typeface="Times New Roman"/>
                <a:sym typeface="Times New Roman"/>
              </a:rPr>
              <a:t>Presented by :</a:t>
            </a:r>
          </a:p>
          <a:p>
            <a:pPr marL="36900" marR="0" lvl="0" indent="0" algn="ctr" rtl="0">
              <a:lnSpc>
                <a:spcPct val="150000"/>
              </a:lnSpc>
              <a:spcBef>
                <a:spcPts val="0"/>
              </a:spcBef>
              <a:spcAft>
                <a:spcPts val="0"/>
              </a:spcAft>
              <a:buClr>
                <a:schemeClr val="dk2"/>
              </a:buClr>
              <a:buSzPts val="1960"/>
              <a:buFont typeface="Noto Sans Symbols"/>
              <a:buNone/>
            </a:pPr>
            <a:r>
              <a:rPr lang="en-US" sz="2000" b="1" dirty="0">
                <a:solidFill>
                  <a:schemeClr val="dk1"/>
                </a:solidFill>
                <a:latin typeface="Times New Roman"/>
                <a:cs typeface="Times New Roman"/>
                <a:sym typeface="Times New Roman"/>
              </a:rPr>
              <a:t>SAMEEHA J</a:t>
            </a:r>
          </a:p>
          <a:p>
            <a:pPr marL="36900" marR="0" lvl="0" indent="0" algn="ctr" rtl="0">
              <a:lnSpc>
                <a:spcPct val="150000"/>
              </a:lnSpc>
              <a:spcBef>
                <a:spcPts val="0"/>
              </a:spcBef>
              <a:spcAft>
                <a:spcPts val="0"/>
              </a:spcAft>
              <a:buClr>
                <a:schemeClr val="dk2"/>
              </a:buClr>
              <a:buSzPts val="1960"/>
              <a:buFont typeface="Noto Sans Symbols"/>
              <a:buNone/>
            </a:pPr>
            <a:r>
              <a:rPr lang="en-US" sz="2000" b="1" i="0" u="none" strike="noStrike" cap="none" dirty="0">
                <a:solidFill>
                  <a:schemeClr val="dk1"/>
                </a:solidFill>
                <a:latin typeface="Times New Roman"/>
                <a:ea typeface="Arial"/>
                <a:cs typeface="Times New Roman"/>
                <a:sym typeface="Times New Roman"/>
              </a:rPr>
              <a:t>SUDHARS</a:t>
            </a:r>
            <a:r>
              <a:rPr lang="en-US" sz="2000" b="1" dirty="0">
                <a:solidFill>
                  <a:schemeClr val="dk1"/>
                </a:solidFill>
                <a:latin typeface="Times New Roman"/>
                <a:cs typeface="Times New Roman"/>
                <a:sym typeface="Times New Roman"/>
              </a:rPr>
              <a:t>ON S R</a:t>
            </a:r>
          </a:p>
          <a:p>
            <a:pPr marL="36900" marR="0" lvl="0" indent="0" algn="ctr" rtl="0">
              <a:lnSpc>
                <a:spcPct val="150000"/>
              </a:lnSpc>
              <a:spcBef>
                <a:spcPts val="0"/>
              </a:spcBef>
              <a:spcAft>
                <a:spcPts val="0"/>
              </a:spcAft>
              <a:buClr>
                <a:schemeClr val="dk2"/>
              </a:buClr>
              <a:buSzPts val="1960"/>
              <a:buFont typeface="Noto Sans Symbols"/>
              <a:buNone/>
            </a:pPr>
            <a:r>
              <a:rPr lang="en-US" sz="2000" b="1" i="0" u="none" strike="noStrike" cap="none" dirty="0">
                <a:solidFill>
                  <a:schemeClr val="dk1"/>
                </a:solidFill>
                <a:latin typeface="Times New Roman"/>
                <a:ea typeface="Arial"/>
                <a:cs typeface="Times New Roman"/>
                <a:sym typeface="Times New Roman"/>
              </a:rPr>
              <a:t>VETHAABINAYA S</a:t>
            </a:r>
          </a:p>
          <a:p>
            <a:pPr marL="36900" marR="0" lvl="0" indent="0" algn="ctr" rtl="0">
              <a:lnSpc>
                <a:spcPct val="150000"/>
              </a:lnSpc>
              <a:spcBef>
                <a:spcPts val="0"/>
              </a:spcBef>
              <a:spcAft>
                <a:spcPts val="0"/>
              </a:spcAft>
              <a:buClr>
                <a:schemeClr val="dk2"/>
              </a:buClr>
              <a:buSzPts val="1960"/>
              <a:buFont typeface="Noto Sans Symbols"/>
              <a:buNone/>
            </a:pPr>
            <a:r>
              <a:rPr lang="en-US" sz="2000" b="1" dirty="0">
                <a:solidFill>
                  <a:schemeClr val="dk1"/>
                </a:solidFill>
                <a:latin typeface="Times New Roman"/>
                <a:cs typeface="Times New Roman"/>
                <a:sym typeface="Times New Roman"/>
              </a:rPr>
              <a:t>VIMAL AANANTH B R</a:t>
            </a:r>
            <a:endParaRPr sz="2000" b="0" i="0" u="none" strike="noStrike" cap="none" dirty="0">
              <a:solidFill>
                <a:srgbClr val="000000"/>
              </a:solidFill>
              <a:latin typeface="Arial"/>
              <a:ea typeface="Arial"/>
              <a:cs typeface="Arial"/>
              <a:sym typeface="Arial"/>
            </a:endParaRPr>
          </a:p>
          <a:p>
            <a:pPr marL="36900" marR="0" lvl="0" indent="0" algn="ctr" rtl="0">
              <a:lnSpc>
                <a:spcPct val="100000"/>
              </a:lnSpc>
              <a:spcBef>
                <a:spcPts val="1160"/>
              </a:spcBef>
              <a:spcAft>
                <a:spcPts val="0"/>
              </a:spcAft>
              <a:buClr>
                <a:schemeClr val="dk2"/>
              </a:buClr>
              <a:buSzPts val="1960"/>
              <a:buFont typeface="Noto Sans Symbols"/>
              <a:buNone/>
            </a:pPr>
            <a:endParaRPr sz="2800" b="1" i="0" u="none" strike="noStrike" cap="none" dirty="0">
              <a:solidFill>
                <a:schemeClr val="dk1"/>
              </a:solidFill>
              <a:latin typeface="Times New Roman"/>
              <a:ea typeface="Times New Roman"/>
              <a:cs typeface="Times New Roman"/>
              <a:sym typeface="Times New Roman"/>
            </a:endParaRPr>
          </a:p>
          <a:p>
            <a:pPr marL="36900" marR="0" lvl="0" indent="0" algn="ctr" rtl="0">
              <a:lnSpc>
                <a:spcPct val="100000"/>
              </a:lnSpc>
              <a:spcBef>
                <a:spcPts val="1160"/>
              </a:spcBef>
              <a:spcAft>
                <a:spcPts val="0"/>
              </a:spcAft>
              <a:buClr>
                <a:schemeClr val="dk2"/>
              </a:buClr>
              <a:buSzPts val="1960"/>
              <a:buFont typeface="Noto Sans Symbols"/>
              <a:buNone/>
            </a:pPr>
            <a:endParaRPr sz="2800" b="1" i="0" u="none" strike="noStrike" cap="none" dirty="0">
              <a:solidFill>
                <a:schemeClr val="dk1"/>
              </a:solidFill>
              <a:latin typeface="Times New Roman"/>
              <a:ea typeface="Times New Roman"/>
              <a:cs typeface="Times New Roman"/>
              <a:sym typeface="Times New Roman"/>
            </a:endParaRPr>
          </a:p>
        </p:txBody>
      </p:sp>
      <p:sp>
        <p:nvSpPr>
          <p:cNvPr id="91" name="Google Shape;91;p13"/>
          <p:cNvSpPr txBox="1"/>
          <p:nvPr/>
        </p:nvSpPr>
        <p:spPr>
          <a:xfrm>
            <a:off x="7199586" y="4283636"/>
            <a:ext cx="4741366" cy="419080"/>
          </a:xfrm>
          <a:prstGeom prst="rect">
            <a:avLst/>
          </a:prstGeom>
          <a:noFill/>
          <a:ln>
            <a:noFill/>
          </a:ln>
          <a:effectLst>
            <a:outerShdw blurRad="25400">
              <a:srgbClr val="000000">
                <a:alpha val="45490"/>
              </a:srgbClr>
            </a:outerShdw>
          </a:effectLst>
        </p:spPr>
        <p:txBody>
          <a:bodyPr spcFirstLastPara="1" wrap="square" lIns="91425" tIns="45700" rIns="91425" bIns="45700" anchor="t" anchorCtr="0">
            <a:noAutofit/>
          </a:bodyPr>
          <a:lstStyle/>
          <a:p>
            <a:pPr marL="36900" marR="0" lvl="0" indent="0" algn="l" rtl="0">
              <a:lnSpc>
                <a:spcPct val="100000"/>
              </a:lnSpc>
              <a:spcBef>
                <a:spcPts val="0"/>
              </a:spcBef>
              <a:spcAft>
                <a:spcPts val="0"/>
              </a:spcAft>
              <a:buClr>
                <a:schemeClr val="dk2"/>
              </a:buClr>
              <a:buSzPts val="1960"/>
              <a:buFont typeface="Noto Sans Symbols"/>
              <a:buNone/>
            </a:pPr>
            <a:r>
              <a:rPr lang="en-US" sz="2800" b="1" i="0" u="none" strike="noStrike" cap="none" dirty="0">
                <a:solidFill>
                  <a:schemeClr val="dk1"/>
                </a:solidFill>
                <a:latin typeface="Times New Roman"/>
                <a:ea typeface="Times New Roman"/>
                <a:cs typeface="Times New Roman"/>
                <a:sym typeface="Times New Roman"/>
              </a:rPr>
              <a:t>Guided by </a:t>
            </a:r>
            <a:r>
              <a:rPr lang="en-US" sz="2800" b="1" i="0" u="none" strike="noStrike" cap="none" dirty="0">
                <a:solidFill>
                  <a:schemeClr val="dk2"/>
                </a:solidFill>
                <a:latin typeface="Times New Roman"/>
                <a:ea typeface="Times New Roman"/>
                <a:cs typeface="Times New Roman"/>
                <a:sym typeface="Times New Roman"/>
              </a:rPr>
              <a:t>:</a:t>
            </a:r>
            <a:endParaRPr lang="en-US" sz="2000" b="1" dirty="0">
              <a:solidFill>
                <a:schemeClr val="tx1"/>
              </a:solidFill>
              <a:latin typeface="Times New Roman"/>
              <a:cs typeface="Times New Roman"/>
              <a:sym typeface="Times New Roman"/>
            </a:endParaRPr>
          </a:p>
          <a:p>
            <a:pPr marL="36900" marR="0" lvl="0" indent="0" algn="l" rtl="0">
              <a:lnSpc>
                <a:spcPct val="150000"/>
              </a:lnSpc>
              <a:spcBef>
                <a:spcPts val="0"/>
              </a:spcBef>
              <a:spcAft>
                <a:spcPts val="0"/>
              </a:spcAft>
              <a:buClr>
                <a:schemeClr val="dk2"/>
              </a:buClr>
              <a:buSzPts val="1960"/>
              <a:buFont typeface="Noto Sans Symbols"/>
              <a:buNone/>
            </a:pPr>
            <a:r>
              <a:rPr lang="en-US" sz="2000" b="1" dirty="0">
                <a:solidFill>
                  <a:schemeClr val="tx1"/>
                </a:solidFill>
                <a:latin typeface="Times New Roman"/>
                <a:cs typeface="Times New Roman"/>
                <a:sym typeface="Times New Roman"/>
              </a:rPr>
              <a:t>Mr. C. MUTHUKUMARAN M.E., (Ph.D.)</a:t>
            </a:r>
          </a:p>
          <a:p>
            <a:pPr marL="36900" marR="0" lvl="0" indent="0" algn="l" rtl="0">
              <a:lnSpc>
                <a:spcPct val="150000"/>
              </a:lnSpc>
              <a:spcBef>
                <a:spcPts val="0"/>
              </a:spcBef>
              <a:spcAft>
                <a:spcPts val="0"/>
              </a:spcAft>
              <a:buClr>
                <a:schemeClr val="dk2"/>
              </a:buClr>
              <a:buSzPts val="1960"/>
              <a:buFont typeface="Noto Sans Symbols"/>
              <a:buNone/>
            </a:pPr>
            <a:r>
              <a:rPr lang="en-US" sz="2000" b="1" dirty="0">
                <a:solidFill>
                  <a:schemeClr val="tx1"/>
                </a:solidFill>
                <a:latin typeface="Times New Roman"/>
                <a:cs typeface="Times New Roman"/>
                <a:sym typeface="Times New Roman"/>
              </a:rPr>
              <a:t>AP – CSE(AIML)</a:t>
            </a:r>
            <a:endParaRPr sz="2000" b="0" i="0" u="none" strike="noStrike" cap="none" dirty="0">
              <a:solidFill>
                <a:schemeClr val="tx1"/>
              </a:solidFill>
              <a:latin typeface="Arial"/>
              <a:ea typeface="Arial"/>
              <a:cs typeface="Arial"/>
              <a:sym typeface="Arial"/>
            </a:endParaRPr>
          </a:p>
        </p:txBody>
      </p:sp>
      <p:sp>
        <p:nvSpPr>
          <p:cNvPr id="92" name="Google Shape;92;p13"/>
          <p:cNvSpPr txBox="1"/>
          <p:nvPr/>
        </p:nvSpPr>
        <p:spPr>
          <a:xfrm>
            <a:off x="2424200" y="3286999"/>
            <a:ext cx="7343600" cy="453708"/>
          </a:xfrm>
          <a:prstGeom prst="rect">
            <a:avLst/>
          </a:prstGeom>
          <a:noFill/>
          <a:ln>
            <a:noFill/>
          </a:ln>
        </p:spPr>
        <p:txBody>
          <a:bodyPr spcFirstLastPara="1" wrap="square" lIns="91425" tIns="45700" rIns="91425" bIns="45700" anchor="t" anchorCtr="0">
            <a:noAutofit/>
          </a:bodyPr>
          <a:lstStyle/>
          <a:p>
            <a:pPr lvl="0" algn="ctr">
              <a:lnSpc>
                <a:spcPct val="90000"/>
              </a:lnSpc>
              <a:buClr>
                <a:schemeClr val="dk1"/>
              </a:buClr>
              <a:buSzPts val="2400"/>
            </a:pPr>
            <a:r>
              <a:rPr lang="en-IN" sz="2400" b="1" dirty="0">
                <a:latin typeface="Times New Roman" panose="02020603050405020304" pitchFamily="18" charset="0"/>
                <a:cs typeface="Times New Roman" panose="02020603050405020304" pitchFamily="18" charset="0"/>
              </a:rPr>
              <a:t>AMB1321 – INTERNET OF THINGS</a:t>
            </a:r>
            <a:endParaRPr lang="en-IN" sz="24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93" name="Google Shape;93;p13"/>
          <p:cNvSpPr txBox="1"/>
          <p:nvPr/>
        </p:nvSpPr>
        <p:spPr>
          <a:xfrm>
            <a:off x="2424200" y="3808154"/>
            <a:ext cx="7343600" cy="453708"/>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a:buNone/>
            </a:pPr>
            <a:r>
              <a:rPr lang="en-US" sz="2400" b="1" i="0" u="none" strike="noStrike" cap="none" dirty="0">
                <a:solidFill>
                  <a:schemeClr val="dk1"/>
                </a:solidFill>
                <a:latin typeface="Times New Roman"/>
                <a:ea typeface="Times New Roman"/>
                <a:cs typeface="Times New Roman"/>
                <a:sym typeface="Times New Roman"/>
              </a:rPr>
              <a:t>BATCH - 9 </a:t>
            </a:r>
          </a:p>
        </p:txBody>
      </p:sp>
      <p:pic>
        <p:nvPicPr>
          <p:cNvPr id="94" name="Google Shape;94;p13" title="logo.jpg"/>
          <p:cNvPicPr preferRelativeResize="0"/>
          <p:nvPr/>
        </p:nvPicPr>
        <p:blipFill>
          <a:blip r:embed="rId3">
            <a:alphaModFix/>
          </a:blip>
          <a:stretch>
            <a:fillRect/>
          </a:stretch>
        </p:blipFill>
        <p:spPr>
          <a:xfrm>
            <a:off x="2661762" y="237806"/>
            <a:ext cx="6868475" cy="1868450"/>
          </a:xfrm>
          <a:prstGeom prst="rect">
            <a:avLst/>
          </a:prstGeom>
          <a:noFill/>
          <a:ln>
            <a:noFill/>
          </a:ln>
        </p:spPr>
      </p:pic>
      <p:sp>
        <p:nvSpPr>
          <p:cNvPr id="95" name="Google Shape;95;p1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a:t>
            </a:fld>
            <a:endParaRPr/>
          </a:p>
        </p:txBody>
      </p:sp>
    </p:spTree>
    <p:extLst>
      <p:ext uri="{BB962C8B-B14F-4D97-AF65-F5344CB8AC3E}">
        <p14:creationId xmlns:p14="http://schemas.microsoft.com/office/powerpoint/2010/main" val="2503623836"/>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4"/>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chemeClr val="dk1"/>
              </a:buClr>
              <a:buSzPts val="4800"/>
              <a:buFont typeface="Times New Roman"/>
              <a:buNone/>
            </a:pPr>
            <a:endParaRPr lang="en-US" sz="4400" b="1" i="0" u="none" strike="noStrike" cap="none" dirty="0">
              <a:solidFill>
                <a:schemeClr val="dk1"/>
              </a:solidFill>
              <a:latin typeface="Times New Roman"/>
              <a:ea typeface="Times New Roman"/>
              <a:cs typeface="Times New Roman"/>
              <a:sym typeface="Times New Roman"/>
            </a:endParaRPr>
          </a:p>
        </p:txBody>
      </p:sp>
      <p:sp>
        <p:nvSpPr>
          <p:cNvPr id="101" name="Google Shape;101;p14"/>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a:t>
            </a:fld>
            <a:endParaRPr/>
          </a:p>
        </p:txBody>
      </p:sp>
      <p:sp>
        <p:nvSpPr>
          <p:cNvPr id="3" name="TextBox 2">
            <a:extLst>
              <a:ext uri="{FF2B5EF4-FFF2-40B4-BE49-F238E27FC236}">
                <a16:creationId xmlns:a16="http://schemas.microsoft.com/office/drawing/2014/main" id="{8CA82EF8-F295-D459-B7C9-6CE14A8B9BF2}"/>
              </a:ext>
            </a:extLst>
          </p:cNvPr>
          <p:cNvSpPr txBox="1"/>
          <p:nvPr/>
        </p:nvSpPr>
        <p:spPr>
          <a:xfrm>
            <a:off x="1930400" y="4429074"/>
            <a:ext cx="8331200"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89BF61D-8B51-E78A-8CC3-377C76FAD8FA}"/>
              </a:ext>
            </a:extLst>
          </p:cNvPr>
          <p:cNvSpPr txBox="1"/>
          <p:nvPr/>
        </p:nvSpPr>
        <p:spPr>
          <a:xfrm>
            <a:off x="1513840" y="1993086"/>
            <a:ext cx="9164320" cy="2435988"/>
          </a:xfrm>
          <a:prstGeom prst="rect">
            <a:avLst/>
          </a:prstGeom>
          <a:noFill/>
        </p:spPr>
        <p:txBody>
          <a:bodyPr wrap="square">
            <a:spAutoFit/>
          </a:bodyPr>
          <a:lstStyle/>
          <a:p>
            <a:pPr algn="ctr">
              <a:lnSpc>
                <a:spcPct val="150000"/>
              </a:lnSpc>
            </a:pPr>
            <a:r>
              <a:rPr lang="en-US" sz="5400" b="1" dirty="0">
                <a:latin typeface="Times New Roman" panose="02020603050405020304" pitchFamily="18" charset="0"/>
                <a:cs typeface="Times New Roman" panose="02020603050405020304" pitchFamily="18" charset="0"/>
              </a:rPr>
              <a:t>Smart Energy Theft Detection System Using IoT and AI</a:t>
            </a:r>
            <a:endParaRPr lang="en-IN" sz="5400" b="1" dirty="0">
              <a:latin typeface="Times New Roman" panose="02020603050405020304" pitchFamily="18" charset="0"/>
              <a:cs typeface="Times New Roman" panose="02020603050405020304" pitchFamily="18" charset="0"/>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121920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sz="4000" b="1" dirty="0">
                <a:latin typeface="Times New Roman"/>
                <a:ea typeface="Times New Roman"/>
                <a:cs typeface="Times New Roman"/>
                <a:sym typeface="Times New Roman"/>
              </a:rPr>
              <a:t>PROBLEM STATEMENT</a:t>
            </a:r>
            <a:endParaRPr lang="en-US" sz="4000" dirty="0"/>
          </a:p>
        </p:txBody>
      </p:sp>
      <p:sp>
        <p:nvSpPr>
          <p:cNvPr id="107" name="Google Shape;107;p1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
        <p:nvSpPr>
          <p:cNvPr id="3" name="TextBox 2">
            <a:extLst>
              <a:ext uri="{FF2B5EF4-FFF2-40B4-BE49-F238E27FC236}">
                <a16:creationId xmlns:a16="http://schemas.microsoft.com/office/drawing/2014/main" id="{6FBF1346-1C87-5DCC-692E-5882443696A9}"/>
              </a:ext>
            </a:extLst>
          </p:cNvPr>
          <p:cNvSpPr txBox="1"/>
          <p:nvPr/>
        </p:nvSpPr>
        <p:spPr>
          <a:xfrm>
            <a:off x="1066800" y="2025506"/>
            <a:ext cx="10058400" cy="2806987"/>
          </a:xfrm>
          <a:prstGeom prst="rect">
            <a:avLst/>
          </a:prstGeom>
          <a:noFill/>
        </p:spPr>
        <p:txBody>
          <a:bodyPr wrap="square">
            <a:spAutoFit/>
          </a:bodyPr>
          <a:lstStyle/>
          <a:p>
            <a:pPr algn="just">
              <a:lnSpc>
                <a:spcPct val="150000"/>
              </a:lnSpc>
              <a:buNone/>
            </a:pPr>
            <a:r>
              <a:rPr lang="en-US" sz="2000" dirty="0">
                <a:latin typeface="Times New Roman" panose="02020603050405020304" pitchFamily="18" charset="0"/>
                <a:cs typeface="Times New Roman" panose="02020603050405020304" pitchFamily="18" charset="0"/>
              </a:rPr>
              <a:t>Electricity theft is a serious problem that causes major financial losses and affects the stability of power distribution systems. Traditional energy meters only record total consumption and do not have the ability to detect abnormal or suspicious usage in real time. Manual inspection methods are expensive, time-consuming, and often ineffective. Therefore, there is a need for a smart and automated system that can continuously monitor energy usage and intelligently detect possible electricity theft using IoT and Artificial Intelligence.</a:t>
            </a: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0" y="0"/>
            <a:ext cx="12192000" cy="1325700"/>
          </a:xfrm>
          <a:prstGeom prst="rect">
            <a:avLst/>
          </a:prstGeom>
          <a:noFill/>
          <a:ln>
            <a:noFill/>
          </a:ln>
        </p:spPr>
        <p:txBody>
          <a:bodyPr spcFirstLastPara="1" wrap="square" lIns="91425" tIns="45700" rIns="91425" bIns="45700" anchor="ctr" anchorCtr="0">
            <a:normAutofit/>
          </a:bodyPr>
          <a:lstStyle/>
          <a:p>
            <a:pPr lvl="0" algn="ctr">
              <a:buSzPts val="4400"/>
            </a:pPr>
            <a:r>
              <a:rPr lang="en-US" sz="4000" b="1" dirty="0">
                <a:latin typeface="Times New Roman"/>
                <a:ea typeface="Times New Roman"/>
                <a:cs typeface="Times New Roman"/>
                <a:sym typeface="Times New Roman"/>
              </a:rPr>
              <a:t>RESEARCH OBJECTIVE </a:t>
            </a:r>
            <a:endParaRPr lang="en-US" sz="4000" dirty="0"/>
          </a:p>
        </p:txBody>
      </p:sp>
      <p:sp>
        <p:nvSpPr>
          <p:cNvPr id="107" name="Google Shape;107;p15"/>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4</a:t>
            </a:fld>
            <a:endParaRPr/>
          </a:p>
        </p:txBody>
      </p:sp>
      <p:sp>
        <p:nvSpPr>
          <p:cNvPr id="3" name="TextBox 2">
            <a:extLst>
              <a:ext uri="{FF2B5EF4-FFF2-40B4-BE49-F238E27FC236}">
                <a16:creationId xmlns:a16="http://schemas.microsoft.com/office/drawing/2014/main" id="{6FBF1346-1C87-5DCC-692E-5882443696A9}"/>
              </a:ext>
            </a:extLst>
          </p:cNvPr>
          <p:cNvSpPr txBox="1"/>
          <p:nvPr/>
        </p:nvSpPr>
        <p:spPr>
          <a:xfrm>
            <a:off x="1072055" y="1468035"/>
            <a:ext cx="10047890" cy="4745979"/>
          </a:xfrm>
          <a:prstGeom prst="rect">
            <a:avLst/>
          </a:prstGeom>
          <a:noFill/>
        </p:spPr>
        <p:txBody>
          <a:bodyPr wrap="square">
            <a:spAutoFit/>
          </a:bodyPr>
          <a:lstStyle/>
          <a:p>
            <a:pPr algn="just">
              <a:lnSpc>
                <a:spcPct val="150000"/>
              </a:lnSpc>
              <a:buNone/>
            </a:pPr>
            <a:r>
              <a:rPr lang="en-US" sz="2000" dirty="0">
                <a:latin typeface="Times New Roman" panose="02020603050405020304" pitchFamily="18" charset="0"/>
                <a:cs typeface="Times New Roman" panose="02020603050405020304" pitchFamily="18" charset="0"/>
              </a:rPr>
              <a:t>The objective of this project is to develop a smart energy theft detection system that monitors real-time power consumption and identifies abnormal usage patterns. The system aims to provide a low-cost, efficient solution with instant alerts for detecting electricity theft.</a:t>
            </a:r>
          </a:p>
          <a:p>
            <a:pPr algn="just">
              <a:lnSpc>
                <a:spcPct val="150000"/>
              </a:lnSpc>
              <a:buNone/>
            </a:pPr>
            <a:endParaRPr lang="en-US" sz="2000" dirty="0">
              <a:latin typeface="Times New Roman" panose="02020603050405020304" pitchFamily="18" charset="0"/>
              <a:cs typeface="Times New Roman" panose="02020603050405020304" pitchFamily="18" charset="0"/>
            </a:endParaRPr>
          </a:p>
          <a:p>
            <a:pPr algn="just">
              <a:lnSpc>
                <a:spcPct val="150000"/>
              </a:lnSpc>
              <a:buNone/>
            </a:pPr>
            <a:r>
              <a:rPr lang="en-US" sz="20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Scope of the Project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Real-time energy monitoring</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Detection of abnormal usage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Instant alert generation</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Load control using relay</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Suitable for smart grid applications</a:t>
            </a:r>
          </a:p>
        </p:txBody>
      </p:sp>
    </p:spTree>
    <p:extLst>
      <p:ext uri="{BB962C8B-B14F-4D97-AF65-F5344CB8AC3E}">
        <p14:creationId xmlns:p14="http://schemas.microsoft.com/office/powerpoint/2010/main" val="3179570701"/>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a:extLst>
            <a:ext uri="{FF2B5EF4-FFF2-40B4-BE49-F238E27FC236}">
              <a16:creationId xmlns:a16="http://schemas.microsoft.com/office/drawing/2014/main" id="{5FEFE7A8-0162-E44F-DE67-E8A2BACA91D1}"/>
            </a:ext>
          </a:extLst>
        </p:cNvPr>
        <p:cNvGrpSpPr/>
        <p:nvPr/>
      </p:nvGrpSpPr>
      <p:grpSpPr>
        <a:xfrm>
          <a:off x="0" y="0"/>
          <a:ext cx="0" cy="0"/>
          <a:chOff x="0" y="0"/>
          <a:chExt cx="0" cy="0"/>
        </a:xfrm>
      </p:grpSpPr>
      <p:sp>
        <p:nvSpPr>
          <p:cNvPr id="106" name="Google Shape;106;p15">
            <a:extLst>
              <a:ext uri="{FF2B5EF4-FFF2-40B4-BE49-F238E27FC236}">
                <a16:creationId xmlns:a16="http://schemas.microsoft.com/office/drawing/2014/main" id="{9D9C5C1C-65EE-AFD1-2A19-578EFB4419A1}"/>
              </a:ext>
            </a:extLst>
          </p:cNvPr>
          <p:cNvSpPr txBox="1">
            <a:spLocks noGrp="1"/>
          </p:cNvSpPr>
          <p:nvPr>
            <p:ph type="title"/>
          </p:nvPr>
        </p:nvSpPr>
        <p:spPr>
          <a:xfrm>
            <a:off x="0" y="0"/>
            <a:ext cx="12192000" cy="1325700"/>
          </a:xfrm>
          <a:prstGeom prst="rect">
            <a:avLst/>
          </a:prstGeom>
          <a:noFill/>
          <a:ln>
            <a:noFill/>
          </a:ln>
        </p:spPr>
        <p:txBody>
          <a:bodyPr spcFirstLastPara="1" wrap="square" lIns="91425" tIns="45700" rIns="91425" bIns="45700" anchor="ctr" anchorCtr="0">
            <a:normAutofit/>
          </a:bodyPr>
          <a:lstStyle/>
          <a:p>
            <a:pPr lvl="0" algn="ctr">
              <a:buSzPts val="4400"/>
            </a:pPr>
            <a:r>
              <a:rPr lang="en-US" sz="4000" b="1" dirty="0">
                <a:latin typeface="Times New Roman"/>
                <a:ea typeface="Times New Roman"/>
                <a:cs typeface="Times New Roman"/>
                <a:sym typeface="Times New Roman"/>
              </a:rPr>
              <a:t>EXISTING SYSTEM </a:t>
            </a:r>
            <a:endParaRPr lang="en-US" sz="4000" dirty="0"/>
          </a:p>
        </p:txBody>
      </p:sp>
      <p:sp>
        <p:nvSpPr>
          <p:cNvPr id="107" name="Google Shape;107;p15">
            <a:extLst>
              <a:ext uri="{FF2B5EF4-FFF2-40B4-BE49-F238E27FC236}">
                <a16:creationId xmlns:a16="http://schemas.microsoft.com/office/drawing/2014/main" id="{163DD65A-3113-8BB5-0F0B-677938426783}"/>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5</a:t>
            </a:fld>
            <a:endParaRPr/>
          </a:p>
        </p:txBody>
      </p:sp>
      <p:sp>
        <p:nvSpPr>
          <p:cNvPr id="3" name="TextBox 2">
            <a:extLst>
              <a:ext uri="{FF2B5EF4-FFF2-40B4-BE49-F238E27FC236}">
                <a16:creationId xmlns:a16="http://schemas.microsoft.com/office/drawing/2014/main" id="{1E14F66D-A90A-9F46-9428-07C3600AD234}"/>
              </a:ext>
            </a:extLst>
          </p:cNvPr>
          <p:cNvSpPr txBox="1"/>
          <p:nvPr/>
        </p:nvSpPr>
        <p:spPr>
          <a:xfrm>
            <a:off x="1072055" y="1237203"/>
            <a:ext cx="10047890" cy="5207644"/>
          </a:xfrm>
          <a:prstGeom prst="rect">
            <a:avLst/>
          </a:prstGeom>
          <a:noFill/>
        </p:spPr>
        <p:txBody>
          <a:bodyPr wrap="square">
            <a:spAutoFit/>
          </a:bodyPr>
          <a:lstStyle/>
          <a:p>
            <a:pPr algn="just">
              <a:lnSpc>
                <a:spcPct val="150000"/>
              </a:lnSpc>
              <a:buNone/>
            </a:pPr>
            <a:r>
              <a:rPr lang="en-US" sz="2000" dirty="0">
                <a:latin typeface="Times New Roman" panose="02020603050405020304" pitchFamily="18" charset="0"/>
                <a:cs typeface="Times New Roman" panose="02020603050405020304" pitchFamily="18" charset="0"/>
              </a:rPr>
              <a:t>Traditional electricity monitoring systems use basic energy meters that only record total power consumption and do not provide real-time analysis. Electricity theft detection mainly depends on manual inspection, which is time-consuming and inefficient. These systems lack the ability to identify abnormal usage patterns and do not generate alerts, making theft detection difficult.</a:t>
            </a:r>
          </a:p>
          <a:p>
            <a:pPr algn="just">
              <a:buNone/>
            </a:pPr>
            <a:endParaRPr lang="en-US" sz="2000" dirty="0">
              <a:latin typeface="Times New Roman" panose="02020603050405020304" pitchFamily="18" charset="0"/>
              <a:cs typeface="Times New Roman" panose="02020603050405020304" pitchFamily="18" charset="0"/>
            </a:endParaRPr>
          </a:p>
          <a:p>
            <a:pPr algn="just">
              <a:lnSpc>
                <a:spcPct val="150000"/>
              </a:lnSpc>
              <a:buNone/>
            </a:pPr>
            <a:r>
              <a:rPr lang="en-US" sz="20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Limitations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No real-time monitoring</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Cannot detect abnormal usage patterns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Depends on manual inspection</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Low detection accuracy</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No alert or notification system</a:t>
            </a:r>
          </a:p>
        </p:txBody>
      </p:sp>
    </p:spTree>
    <p:extLst>
      <p:ext uri="{BB962C8B-B14F-4D97-AF65-F5344CB8AC3E}">
        <p14:creationId xmlns:p14="http://schemas.microsoft.com/office/powerpoint/2010/main" val="2490218795"/>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D94410CB-E528-74FE-DDAA-8E72F6277211}"/>
            </a:ext>
          </a:extLst>
        </p:cNvPr>
        <p:cNvGrpSpPr/>
        <p:nvPr/>
      </p:nvGrpSpPr>
      <p:grpSpPr>
        <a:xfrm>
          <a:off x="0" y="0"/>
          <a:ext cx="0" cy="0"/>
          <a:chOff x="0" y="0"/>
          <a:chExt cx="0" cy="0"/>
        </a:xfrm>
      </p:grpSpPr>
      <p:sp>
        <p:nvSpPr>
          <p:cNvPr id="113" name="Google Shape;113;p16">
            <a:extLst>
              <a:ext uri="{FF2B5EF4-FFF2-40B4-BE49-F238E27FC236}">
                <a16:creationId xmlns:a16="http://schemas.microsoft.com/office/drawing/2014/main" id="{D1A7FDFC-3705-C9A3-07CA-A4EC9AE46ADE}"/>
              </a:ext>
            </a:extLst>
          </p:cNvPr>
          <p:cNvSpPr txBox="1">
            <a:spLocks noGrp="1"/>
          </p:cNvSpPr>
          <p:nvPr>
            <p:ph type="title"/>
          </p:nvPr>
        </p:nvSpPr>
        <p:spPr>
          <a:xfrm>
            <a:off x="0" y="0"/>
            <a:ext cx="12192000" cy="13257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4000" b="1" dirty="0">
                <a:latin typeface="Times New Roman"/>
                <a:ea typeface="Times New Roman"/>
                <a:cs typeface="Times New Roman"/>
                <a:sym typeface="Times New Roman"/>
              </a:rPr>
              <a:t>PROPOSED SYSTEM</a:t>
            </a:r>
          </a:p>
        </p:txBody>
      </p:sp>
      <p:sp>
        <p:nvSpPr>
          <p:cNvPr id="114" name="Google Shape;114;p16">
            <a:extLst>
              <a:ext uri="{FF2B5EF4-FFF2-40B4-BE49-F238E27FC236}">
                <a16:creationId xmlns:a16="http://schemas.microsoft.com/office/drawing/2014/main" id="{D5A378C9-A077-3A27-DC7B-3173FD5A14F8}"/>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6</a:t>
            </a:fld>
            <a:endParaRPr/>
          </a:p>
        </p:txBody>
      </p:sp>
      <p:sp>
        <p:nvSpPr>
          <p:cNvPr id="4" name="Rectangle 3">
            <a:extLst>
              <a:ext uri="{FF2B5EF4-FFF2-40B4-BE49-F238E27FC236}">
                <a16:creationId xmlns:a16="http://schemas.microsoft.com/office/drawing/2014/main" id="{C4E85278-1BBB-A125-AA78-E7111E691947}"/>
              </a:ext>
            </a:extLst>
          </p:cNvPr>
          <p:cNvSpPr>
            <a:spLocks noChangeArrowheads="1"/>
          </p:cNvSpPr>
          <p:nvPr/>
        </p:nvSpPr>
        <p:spPr bwMode="auto">
          <a:xfrm rot="10800000" flipV="1">
            <a:off x="1064260" y="961924"/>
            <a:ext cx="10063480" cy="557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energy consumption is continuously monitored using an ESP32 microcontroller integrated with a current sensor. The collected data is transmitted via Wi-Fi to a cloud platform for intelligent analysis. A hybrid detection framework is implemented, combining Statistical Threshold Analysis and ML-based Anomaly Detection to accurately identify abnormal consumption patterns that may indicate electricity theft.</a:t>
            </a:r>
          </a:p>
          <a:p>
            <a:pPr marR="0" lvl="0" algn="just" defTabSz="914400" rtl="0" eaLnBrk="0" fontAlgn="base" latinLnBrk="0" hangingPunct="0">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eaLnBrk="0" fontAlgn="base" hangingPunct="0">
              <a:lnSpc>
                <a:spcPct val="150000"/>
              </a:lnSpc>
              <a:spcBef>
                <a:spcPct val="0"/>
              </a:spcBef>
              <a:spcAft>
                <a:spcPct val="0"/>
              </a:spcAft>
              <a:buClrTx/>
            </a:pPr>
            <a:r>
              <a:rPr lang="en-US" sz="2000" dirty="0">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Merits: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Accurate and reliable anomaly detection</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Reduced false positives through hybrid verification</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monitoring and alert generation</a:t>
            </a:r>
          </a:p>
          <a:p>
            <a:pPr marL="342900" indent="-342900" algn="just" eaLnBrk="0" fontAlgn="base" hangingPunct="0">
              <a:lnSpc>
                <a:spcPct val="150000"/>
              </a:lnSpc>
              <a:spcBef>
                <a:spcPct val="0"/>
              </a:spcBef>
              <a:spcAft>
                <a:spcPct val="0"/>
              </a:spcAft>
              <a:buClrTx/>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a:t>
            </a:r>
            <a:r>
              <a:rPr lang="en-US" altLang="en-US" sz="2000" dirty="0">
                <a:solidFill>
                  <a:schemeClr val="tx1"/>
                </a:solidFill>
                <a:latin typeface="Times New Roman" panose="02020603050405020304" pitchFamily="18" charset="0"/>
                <a:cs typeface="Times New Roman" panose="02020603050405020304" pitchFamily="18" charset="0"/>
              </a:rPr>
              <a:t>computational complexity &amp; Suitable for smart grid applications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Cost-effective and scalable implementation</a:t>
            </a:r>
          </a:p>
        </p:txBody>
      </p:sp>
    </p:spTree>
    <p:extLst>
      <p:ext uri="{BB962C8B-B14F-4D97-AF65-F5344CB8AC3E}">
        <p14:creationId xmlns:p14="http://schemas.microsoft.com/office/powerpoint/2010/main" val="504166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0" y="0"/>
            <a:ext cx="12192000" cy="1325700"/>
          </a:xfrm>
          <a:prstGeom prst="rect">
            <a:avLst/>
          </a:prstGeom>
        </p:spPr>
        <p:txBody>
          <a:bodyPr spcFirstLastPara="1" wrap="square" lIns="91425" tIns="45700" rIns="91425" bIns="45700" anchor="ctr" anchorCtr="0">
            <a:normAutofit/>
          </a:bodyPr>
          <a:lstStyle/>
          <a:p>
            <a:pPr lvl="0" algn="ctr"/>
            <a:r>
              <a:rPr lang="en-US" sz="4000" b="1" dirty="0">
                <a:latin typeface="Times New Roman"/>
                <a:ea typeface="Times New Roman"/>
                <a:cs typeface="Times New Roman"/>
                <a:sym typeface="Times New Roman"/>
              </a:rPr>
              <a:t>SYSTEM ARCHITECTURE</a:t>
            </a:r>
          </a:p>
        </p:txBody>
      </p:sp>
      <p:sp>
        <p:nvSpPr>
          <p:cNvPr id="114" name="Google Shape;114;p16"/>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7</a:t>
            </a:fld>
            <a:endParaRPr/>
          </a:p>
        </p:txBody>
      </p:sp>
      <p:pic>
        <p:nvPicPr>
          <p:cNvPr id="3" name="Picture 2">
            <a:extLst>
              <a:ext uri="{FF2B5EF4-FFF2-40B4-BE49-F238E27FC236}">
                <a16:creationId xmlns:a16="http://schemas.microsoft.com/office/drawing/2014/main" id="{2C937CC0-F517-EF15-17C5-F2DE6119F006}"/>
              </a:ext>
            </a:extLst>
          </p:cNvPr>
          <p:cNvPicPr>
            <a:picLocks noChangeAspect="1"/>
          </p:cNvPicPr>
          <p:nvPr/>
        </p:nvPicPr>
        <p:blipFill>
          <a:blip r:embed="rId3"/>
          <a:stretch>
            <a:fillRect/>
          </a:stretch>
        </p:blipFill>
        <p:spPr>
          <a:xfrm>
            <a:off x="7257946" y="1618594"/>
            <a:ext cx="4565543" cy="4025462"/>
          </a:xfrm>
          <a:prstGeom prst="rect">
            <a:avLst/>
          </a:prstGeom>
        </p:spPr>
      </p:pic>
      <p:pic>
        <p:nvPicPr>
          <p:cNvPr id="13" name="Picture 12">
            <a:extLst>
              <a:ext uri="{FF2B5EF4-FFF2-40B4-BE49-F238E27FC236}">
                <a16:creationId xmlns:a16="http://schemas.microsoft.com/office/drawing/2014/main" id="{1AFF78CF-ED64-2DF8-67FB-EF8B5EB83C46}"/>
              </a:ext>
            </a:extLst>
          </p:cNvPr>
          <p:cNvPicPr>
            <a:picLocks noChangeAspect="1"/>
          </p:cNvPicPr>
          <p:nvPr/>
        </p:nvPicPr>
        <p:blipFill>
          <a:blip r:embed="rId4"/>
          <a:stretch>
            <a:fillRect/>
          </a:stretch>
        </p:blipFill>
        <p:spPr>
          <a:xfrm>
            <a:off x="368511" y="1618594"/>
            <a:ext cx="6889435" cy="4025462"/>
          </a:xfrm>
          <a:prstGeom prst="rect">
            <a:avLst/>
          </a:prstGeom>
        </p:spPr>
      </p:pic>
    </p:spTree>
    <p:extLst>
      <p:ext uri="{BB962C8B-B14F-4D97-AF65-F5344CB8AC3E}">
        <p14:creationId xmlns:p14="http://schemas.microsoft.com/office/powerpoint/2010/main" val="40652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BF8F36B3-6DE6-6B27-966B-2E45E9CEFD82}"/>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6E75A279-3EB2-DB7E-D4B6-423F05333468}"/>
              </a:ext>
            </a:extLst>
          </p:cNvPr>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lvl="0" algn="ctr">
              <a:buClr>
                <a:schemeClr val="dk1"/>
              </a:buClr>
              <a:buSzPts val="4800"/>
            </a:pPr>
            <a:r>
              <a:rPr lang="en-US" sz="4000" b="1" dirty="0">
                <a:solidFill>
                  <a:schemeClr val="dk1"/>
                </a:solidFill>
                <a:latin typeface="Times New Roman"/>
                <a:ea typeface="Times New Roman"/>
                <a:cs typeface="Times New Roman"/>
                <a:sym typeface="Times New Roman"/>
              </a:rPr>
              <a:t>HARDWARE COMPONENTS</a:t>
            </a:r>
            <a:endParaRPr lang="en-US" sz="4000" b="1" i="0" u="none" strike="noStrike" cap="none" dirty="0">
              <a:solidFill>
                <a:schemeClr val="dk2"/>
              </a:solidFill>
              <a:latin typeface="Times New Roman"/>
              <a:ea typeface="Times New Roman"/>
              <a:cs typeface="Times New Roman"/>
              <a:sym typeface="Times New Roman"/>
            </a:endParaRPr>
          </a:p>
        </p:txBody>
      </p:sp>
      <p:sp>
        <p:nvSpPr>
          <p:cNvPr id="101" name="Google Shape;101;p14">
            <a:extLst>
              <a:ext uri="{FF2B5EF4-FFF2-40B4-BE49-F238E27FC236}">
                <a16:creationId xmlns:a16="http://schemas.microsoft.com/office/drawing/2014/main" id="{650DD829-5666-9B3A-F717-FA7A866F2B60}"/>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8</a:t>
            </a:fld>
            <a:endParaRPr/>
          </a:p>
        </p:txBody>
      </p:sp>
      <p:sp>
        <p:nvSpPr>
          <p:cNvPr id="3" name="TextBox 2">
            <a:extLst>
              <a:ext uri="{FF2B5EF4-FFF2-40B4-BE49-F238E27FC236}">
                <a16:creationId xmlns:a16="http://schemas.microsoft.com/office/drawing/2014/main" id="{75CDF5E3-A0C8-D937-EE42-DE882CC12999}"/>
              </a:ext>
            </a:extLst>
          </p:cNvPr>
          <p:cNvSpPr txBox="1"/>
          <p:nvPr/>
        </p:nvSpPr>
        <p:spPr>
          <a:xfrm>
            <a:off x="1930400" y="4429074"/>
            <a:ext cx="8331200"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73E2857-48CE-E745-90A3-5334E44C9C3E}"/>
              </a:ext>
            </a:extLst>
          </p:cNvPr>
          <p:cNvSpPr txBox="1"/>
          <p:nvPr/>
        </p:nvSpPr>
        <p:spPr>
          <a:xfrm>
            <a:off x="1061545" y="1562129"/>
            <a:ext cx="10068910" cy="419198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This project uses the following hardware components: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ESP32 Microcontroller</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ACS712 Current Sensor</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Relay Module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LCD Display (16x2)</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Buzzer</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Breadboard</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Jumper Wires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Bulb &amp; Holder</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4817346"/>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E6FE5B45-D87A-360B-9B3A-82BDF2805DF2}"/>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3092A9CC-A3F4-96EE-5623-A7A1D3CB380F}"/>
              </a:ext>
            </a:extLst>
          </p:cNvPr>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lvl="0" algn="ctr">
              <a:buClr>
                <a:schemeClr val="dk1"/>
              </a:buClr>
              <a:buSzPts val="4800"/>
            </a:pPr>
            <a:r>
              <a:rPr lang="en-US" sz="4000" b="1" dirty="0">
                <a:solidFill>
                  <a:schemeClr val="dk1"/>
                </a:solidFill>
                <a:latin typeface="Times New Roman"/>
                <a:ea typeface="Times New Roman"/>
                <a:cs typeface="Times New Roman"/>
                <a:sym typeface="Times New Roman"/>
              </a:rPr>
              <a:t>SOFTWARE REQUIREMENTS</a:t>
            </a:r>
            <a:endParaRPr lang="en-US" sz="4000" b="1" i="0" u="none" strike="noStrike" cap="none" dirty="0">
              <a:solidFill>
                <a:schemeClr val="dk2"/>
              </a:solidFill>
              <a:latin typeface="Times New Roman"/>
              <a:ea typeface="Times New Roman"/>
              <a:cs typeface="Times New Roman"/>
              <a:sym typeface="Times New Roman"/>
            </a:endParaRPr>
          </a:p>
        </p:txBody>
      </p:sp>
      <p:sp>
        <p:nvSpPr>
          <p:cNvPr id="101" name="Google Shape;101;p14">
            <a:extLst>
              <a:ext uri="{FF2B5EF4-FFF2-40B4-BE49-F238E27FC236}">
                <a16:creationId xmlns:a16="http://schemas.microsoft.com/office/drawing/2014/main" id="{8B6172F2-1261-28C9-6945-95E61D6E1155}"/>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
        <p:nvSpPr>
          <p:cNvPr id="5" name="TextBox 4">
            <a:extLst>
              <a:ext uri="{FF2B5EF4-FFF2-40B4-BE49-F238E27FC236}">
                <a16:creationId xmlns:a16="http://schemas.microsoft.com/office/drawing/2014/main" id="{3F40AEE8-82CA-7665-91E2-EE8C10367BB6}"/>
              </a:ext>
            </a:extLst>
          </p:cNvPr>
          <p:cNvSpPr txBox="1"/>
          <p:nvPr/>
        </p:nvSpPr>
        <p:spPr>
          <a:xfrm>
            <a:off x="1082566" y="2256339"/>
            <a:ext cx="10058400" cy="2345322"/>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system is developed using embedded programming and required tools.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Arduino IDE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ESP32 Board Package</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Embedded C / C++</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Libraries: Liquid Crystal I2C, Wi-Fi</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317390"/>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a:extLst>
            <a:ext uri="{FF2B5EF4-FFF2-40B4-BE49-F238E27FC236}">
              <a16:creationId xmlns:a16="http://schemas.microsoft.com/office/drawing/2014/main" id="{D94410CB-E528-74FE-DDAA-8E72F6277211}"/>
            </a:ext>
          </a:extLst>
        </p:cNvPr>
        <p:cNvGrpSpPr/>
        <p:nvPr/>
      </p:nvGrpSpPr>
      <p:grpSpPr>
        <a:xfrm>
          <a:off x="0" y="0"/>
          <a:ext cx="0" cy="0"/>
          <a:chOff x="0" y="0"/>
          <a:chExt cx="0" cy="0"/>
        </a:xfrm>
      </p:grpSpPr>
      <p:sp>
        <p:nvSpPr>
          <p:cNvPr id="113" name="Google Shape;113;p16">
            <a:extLst>
              <a:ext uri="{FF2B5EF4-FFF2-40B4-BE49-F238E27FC236}">
                <a16:creationId xmlns:a16="http://schemas.microsoft.com/office/drawing/2014/main" id="{D1A7FDFC-3705-C9A3-07CA-A4EC9AE46ADE}"/>
              </a:ext>
            </a:extLst>
          </p:cNvPr>
          <p:cNvSpPr txBox="1">
            <a:spLocks noGrp="1"/>
          </p:cNvSpPr>
          <p:nvPr>
            <p:ph type="title"/>
          </p:nvPr>
        </p:nvSpPr>
        <p:spPr>
          <a:xfrm>
            <a:off x="0" y="0"/>
            <a:ext cx="12192000" cy="1325700"/>
          </a:xfrm>
          <a:prstGeom prst="rect">
            <a:avLst/>
          </a:prstGeom>
        </p:spPr>
        <p:txBody>
          <a:bodyPr spcFirstLastPara="1" wrap="square" lIns="91425" tIns="45700" rIns="91425" bIns="45700" anchor="ctr" anchorCtr="0">
            <a:normAutofit/>
          </a:bodyPr>
          <a:lstStyle/>
          <a:p>
            <a:pPr lvl="0" algn="ctr"/>
            <a:r>
              <a:rPr lang="en-US" sz="4000" b="1" dirty="0">
                <a:latin typeface="Times New Roman"/>
                <a:ea typeface="Times New Roman"/>
                <a:cs typeface="Times New Roman"/>
                <a:sym typeface="Times New Roman"/>
              </a:rPr>
              <a:t>WORKING PRINCIPLE</a:t>
            </a:r>
          </a:p>
        </p:txBody>
      </p:sp>
      <p:sp>
        <p:nvSpPr>
          <p:cNvPr id="114" name="Google Shape;114;p16">
            <a:extLst>
              <a:ext uri="{FF2B5EF4-FFF2-40B4-BE49-F238E27FC236}">
                <a16:creationId xmlns:a16="http://schemas.microsoft.com/office/drawing/2014/main" id="{D5A378C9-A077-3A27-DC7B-3173FD5A14F8}"/>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10</a:t>
            </a:fld>
            <a:endParaRPr/>
          </a:p>
        </p:txBody>
      </p:sp>
      <p:sp>
        <p:nvSpPr>
          <p:cNvPr id="4" name="Rectangle 3">
            <a:extLst>
              <a:ext uri="{FF2B5EF4-FFF2-40B4-BE49-F238E27FC236}">
                <a16:creationId xmlns:a16="http://schemas.microsoft.com/office/drawing/2014/main" id="{C4E85278-1BBB-A125-AA78-E7111E691947}"/>
              </a:ext>
            </a:extLst>
          </p:cNvPr>
          <p:cNvSpPr>
            <a:spLocks noChangeArrowheads="1"/>
          </p:cNvSpPr>
          <p:nvPr/>
        </p:nvSpPr>
        <p:spPr bwMode="auto">
          <a:xfrm rot="10800000" flipV="1">
            <a:off x="1051034" y="1671067"/>
            <a:ext cx="10089932" cy="3730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follows a hybrid approach combining statistical analysis and simple anomaly detection to identify abnormal energy usage.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data is collected using ACS712 sensor</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ESP32 processes real-time energy values</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Statistical threshold (mean &amp; deviation) is applied</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Abnormal patterns are identified</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Two-stage verification improves accuracy</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Alerts are generated for detected anomalies</a:t>
            </a:r>
          </a:p>
        </p:txBody>
      </p:sp>
    </p:spTree>
    <p:extLst>
      <p:ext uri="{BB962C8B-B14F-4D97-AF65-F5344CB8AC3E}">
        <p14:creationId xmlns:p14="http://schemas.microsoft.com/office/powerpoint/2010/main" val="1081473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334A05E5-DAD5-6606-5BA7-0B6723A6CA70}"/>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79AC73DA-34E3-52F8-6712-726041780B4E}"/>
              </a:ext>
            </a:extLst>
          </p:cNvPr>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lvl="0" algn="ctr">
              <a:buClr>
                <a:schemeClr val="dk1"/>
              </a:buClr>
              <a:buSzPts val="4800"/>
            </a:pPr>
            <a:r>
              <a:rPr lang="en-US" sz="4000" b="1" dirty="0">
                <a:solidFill>
                  <a:schemeClr val="dk1"/>
                </a:solidFill>
                <a:latin typeface="Times New Roman"/>
                <a:ea typeface="Times New Roman"/>
                <a:cs typeface="Times New Roman"/>
                <a:sym typeface="Times New Roman"/>
              </a:rPr>
              <a:t>IMPLEMENTATION DETAILS</a:t>
            </a:r>
            <a:endParaRPr lang="en-US" sz="4000" b="1" i="0" u="none" strike="noStrike" cap="none" dirty="0">
              <a:solidFill>
                <a:schemeClr val="dk2"/>
              </a:solidFill>
              <a:latin typeface="Times New Roman"/>
              <a:ea typeface="Times New Roman"/>
              <a:cs typeface="Times New Roman"/>
              <a:sym typeface="Times New Roman"/>
            </a:endParaRPr>
          </a:p>
        </p:txBody>
      </p:sp>
      <p:sp>
        <p:nvSpPr>
          <p:cNvPr id="101" name="Google Shape;101;p14">
            <a:extLst>
              <a:ext uri="{FF2B5EF4-FFF2-40B4-BE49-F238E27FC236}">
                <a16:creationId xmlns:a16="http://schemas.microsoft.com/office/drawing/2014/main" id="{D3E9C02E-80BF-6101-4C73-8267C9D37569}"/>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11</a:t>
            </a:fld>
            <a:endParaRPr/>
          </a:p>
        </p:txBody>
      </p:sp>
      <p:sp>
        <p:nvSpPr>
          <p:cNvPr id="3" name="TextBox 2">
            <a:extLst>
              <a:ext uri="{FF2B5EF4-FFF2-40B4-BE49-F238E27FC236}">
                <a16:creationId xmlns:a16="http://schemas.microsoft.com/office/drawing/2014/main" id="{6EF43582-1098-7C9B-53E9-65D0E2FAC1A1}"/>
              </a:ext>
            </a:extLst>
          </p:cNvPr>
          <p:cNvSpPr txBox="1"/>
          <p:nvPr/>
        </p:nvSpPr>
        <p:spPr>
          <a:xfrm>
            <a:off x="1930400" y="4429074"/>
            <a:ext cx="8331200"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ECF15B0-095C-D40A-FC06-0B20AA9D2588}"/>
              </a:ext>
            </a:extLst>
          </p:cNvPr>
          <p:cNvSpPr txBox="1"/>
          <p:nvPr/>
        </p:nvSpPr>
        <p:spPr>
          <a:xfrm>
            <a:off x="1061545" y="1333009"/>
            <a:ext cx="10068910" cy="4191981"/>
          </a:xfrm>
          <a:prstGeom prst="rect">
            <a:avLst/>
          </a:prstGeom>
          <a:noFill/>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The project implementation is completed successfully with full hardware and software integration.</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All required components have been procured and assembled.</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Circuit connections are completed using a breadboard.</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ESP32 is interfaced with ACS712 sensor and relay module.</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LCD display and buzzer are integrated for output indication.</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Complete wiring and hardware setup is finished.</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Sensor readings are tested and validated.</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Final coding and system integration are completed successfully.</a:t>
            </a:r>
          </a:p>
        </p:txBody>
      </p:sp>
    </p:spTree>
    <p:extLst>
      <p:ext uri="{BB962C8B-B14F-4D97-AF65-F5344CB8AC3E}">
        <p14:creationId xmlns:p14="http://schemas.microsoft.com/office/powerpoint/2010/main" val="4193615384"/>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522DDA5B-34B3-DCCC-4BF9-068CB0BE6F7B}"/>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8A75F57F-45AD-54B3-8845-204C9569736F}"/>
              </a:ext>
            </a:extLst>
          </p:cNvPr>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lvl="0" algn="ctr">
              <a:buClr>
                <a:schemeClr val="dk1"/>
              </a:buClr>
              <a:buSzPts val="4800"/>
            </a:pPr>
            <a:r>
              <a:rPr lang="en-US" sz="4000" b="1" dirty="0">
                <a:solidFill>
                  <a:schemeClr val="dk1"/>
                </a:solidFill>
                <a:latin typeface="Times New Roman"/>
                <a:ea typeface="Times New Roman"/>
                <a:cs typeface="Times New Roman"/>
                <a:sym typeface="Times New Roman"/>
              </a:rPr>
              <a:t>OUTPUT/ RESULT</a:t>
            </a:r>
            <a:endParaRPr lang="en-US" sz="4000" b="1" i="0" u="none" strike="noStrike" cap="none" dirty="0">
              <a:solidFill>
                <a:schemeClr val="dk2"/>
              </a:solidFill>
              <a:latin typeface="Times New Roman"/>
              <a:ea typeface="Times New Roman"/>
              <a:cs typeface="Times New Roman"/>
              <a:sym typeface="Times New Roman"/>
            </a:endParaRPr>
          </a:p>
        </p:txBody>
      </p:sp>
      <p:sp>
        <p:nvSpPr>
          <p:cNvPr id="101" name="Google Shape;101;p14">
            <a:extLst>
              <a:ext uri="{FF2B5EF4-FFF2-40B4-BE49-F238E27FC236}">
                <a16:creationId xmlns:a16="http://schemas.microsoft.com/office/drawing/2014/main" id="{CE066111-43ED-564E-9A0D-B85CF4ABD514}"/>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12</a:t>
            </a:fld>
            <a:endParaRPr/>
          </a:p>
        </p:txBody>
      </p:sp>
      <p:sp>
        <p:nvSpPr>
          <p:cNvPr id="3" name="TextBox 2">
            <a:extLst>
              <a:ext uri="{FF2B5EF4-FFF2-40B4-BE49-F238E27FC236}">
                <a16:creationId xmlns:a16="http://schemas.microsoft.com/office/drawing/2014/main" id="{44EADB0F-BA22-BCB5-B2DA-B171841301C1}"/>
              </a:ext>
            </a:extLst>
          </p:cNvPr>
          <p:cNvSpPr txBox="1"/>
          <p:nvPr/>
        </p:nvSpPr>
        <p:spPr>
          <a:xfrm>
            <a:off x="1930400" y="4429074"/>
            <a:ext cx="8331200"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56CD7CB-AC41-F0B5-98C3-E6ED0FDFDFD4}"/>
              </a:ext>
            </a:extLst>
          </p:cNvPr>
          <p:cNvSpPr txBox="1"/>
          <p:nvPr/>
        </p:nvSpPr>
        <p:spPr>
          <a:xfrm>
            <a:off x="838200" y="1531508"/>
            <a:ext cx="7317828" cy="419198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system successfully monitors energy consumption and identifies abnormal usage patterns in real time.</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Normal Condition</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Stable current readings</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LCD displays “NORMAL”</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Buzzer remains OFF</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Load operates normally</a:t>
            </a:r>
          </a:p>
          <a:p>
            <a:pPr>
              <a:lnSpc>
                <a:spcPct val="150000"/>
              </a:lnSpc>
            </a:pPr>
            <a:endParaRPr lang="en-US"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F3606556-4689-7A90-4296-717A09357135}"/>
              </a:ext>
            </a:extLst>
          </p:cNvPr>
          <p:cNvSpPr txBox="1"/>
          <p:nvPr/>
        </p:nvSpPr>
        <p:spPr>
          <a:xfrm>
            <a:off x="4361794" y="2847335"/>
            <a:ext cx="4642068" cy="2806987"/>
          </a:xfrm>
          <a:prstGeom prst="rect">
            <a:avLst/>
          </a:prstGeom>
          <a:noFill/>
        </p:spPr>
        <p:txBody>
          <a:bodyPr wrap="square">
            <a:spAutoFit/>
          </a:bodyPr>
          <a:lstStyle/>
          <a:p>
            <a:pPr>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Theft / Abnormal Condition</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Sudden drop or irregular current detected</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LCD displays “THEFT DETECTED”</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Buzzer turns ON</a:t>
            </a: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Alert indication is generated</a:t>
            </a:r>
          </a:p>
        </p:txBody>
      </p:sp>
      <p:cxnSp>
        <p:nvCxnSpPr>
          <p:cNvPr id="8" name="Straight Connector 7">
            <a:extLst>
              <a:ext uri="{FF2B5EF4-FFF2-40B4-BE49-F238E27FC236}">
                <a16:creationId xmlns:a16="http://schemas.microsoft.com/office/drawing/2014/main" id="{4928101E-06A1-68AE-F995-75B85913D94A}"/>
              </a:ext>
            </a:extLst>
          </p:cNvPr>
          <p:cNvCxnSpPr/>
          <p:nvPr/>
        </p:nvCxnSpPr>
        <p:spPr>
          <a:xfrm>
            <a:off x="4193628" y="3037490"/>
            <a:ext cx="0" cy="2459420"/>
          </a:xfrm>
          <a:prstGeom prst="line">
            <a:avLst/>
          </a:prstGeom>
        </p:spPr>
        <p:style>
          <a:lnRef idx="1">
            <a:schemeClr val="dk1"/>
          </a:lnRef>
          <a:fillRef idx="0">
            <a:schemeClr val="dk1"/>
          </a:fillRef>
          <a:effectRef idx="0">
            <a:schemeClr val="dk1"/>
          </a:effectRef>
          <a:fontRef idx="minor">
            <a:schemeClr val="tx1"/>
          </a:fontRef>
        </p:style>
      </p:cxnSp>
      <p:pic>
        <p:nvPicPr>
          <p:cNvPr id="9" name="Picture 8">
            <a:extLst>
              <a:ext uri="{FF2B5EF4-FFF2-40B4-BE49-F238E27FC236}">
                <a16:creationId xmlns:a16="http://schemas.microsoft.com/office/drawing/2014/main" id="{A1655DF7-F2C9-52ED-1D6E-6057C526CBE9}"/>
              </a:ext>
            </a:extLst>
          </p:cNvPr>
          <p:cNvPicPr>
            <a:picLocks noChangeAspect="1"/>
          </p:cNvPicPr>
          <p:nvPr/>
        </p:nvPicPr>
        <p:blipFill>
          <a:blip r:embed="rId3"/>
          <a:stretch>
            <a:fillRect/>
          </a:stretch>
        </p:blipFill>
        <p:spPr>
          <a:xfrm>
            <a:off x="8894379" y="1254180"/>
            <a:ext cx="2459421" cy="4741676"/>
          </a:xfrm>
          <a:prstGeom prst="rect">
            <a:avLst/>
          </a:prstGeom>
        </p:spPr>
      </p:pic>
    </p:spTree>
    <p:extLst>
      <p:ext uri="{BB962C8B-B14F-4D97-AF65-F5344CB8AC3E}">
        <p14:creationId xmlns:p14="http://schemas.microsoft.com/office/powerpoint/2010/main" val="2761546797"/>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32AA2E06-1638-ED04-B7D0-8EB826CA4762}"/>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6269F112-88CB-07A6-E81A-784D70461013}"/>
              </a:ext>
            </a:extLst>
          </p:cNvPr>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lvl="0" algn="ctr">
              <a:buClr>
                <a:schemeClr val="dk1"/>
              </a:buClr>
              <a:buSzPts val="4800"/>
            </a:pPr>
            <a:r>
              <a:rPr lang="en-US" sz="4000" b="1" dirty="0">
                <a:solidFill>
                  <a:schemeClr val="dk1"/>
                </a:solidFill>
                <a:latin typeface="Times New Roman"/>
                <a:ea typeface="Times New Roman"/>
                <a:cs typeface="Times New Roman"/>
                <a:sym typeface="Times New Roman"/>
              </a:rPr>
              <a:t>OUTPUT/ RESULT</a:t>
            </a:r>
            <a:endParaRPr lang="en-US" sz="4000" b="1" i="0" u="none" strike="noStrike" cap="none" dirty="0">
              <a:solidFill>
                <a:schemeClr val="dk2"/>
              </a:solidFill>
              <a:latin typeface="Times New Roman"/>
              <a:ea typeface="Times New Roman"/>
              <a:cs typeface="Times New Roman"/>
              <a:sym typeface="Times New Roman"/>
            </a:endParaRPr>
          </a:p>
        </p:txBody>
      </p:sp>
      <p:sp>
        <p:nvSpPr>
          <p:cNvPr id="101" name="Google Shape;101;p14">
            <a:extLst>
              <a:ext uri="{FF2B5EF4-FFF2-40B4-BE49-F238E27FC236}">
                <a16:creationId xmlns:a16="http://schemas.microsoft.com/office/drawing/2014/main" id="{DA3E0767-1F6C-E49E-000E-0EA68BA27F36}"/>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13</a:t>
            </a:fld>
            <a:endParaRPr/>
          </a:p>
        </p:txBody>
      </p:sp>
      <p:pic>
        <p:nvPicPr>
          <p:cNvPr id="6" name="Picture 5">
            <a:extLst>
              <a:ext uri="{FF2B5EF4-FFF2-40B4-BE49-F238E27FC236}">
                <a16:creationId xmlns:a16="http://schemas.microsoft.com/office/drawing/2014/main" id="{303B9774-8734-8178-9065-BBEA91BCC3E1}"/>
              </a:ext>
            </a:extLst>
          </p:cNvPr>
          <p:cNvPicPr>
            <a:picLocks noChangeAspect="1"/>
          </p:cNvPicPr>
          <p:nvPr/>
        </p:nvPicPr>
        <p:blipFill>
          <a:blip r:embed="rId3"/>
          <a:stretch>
            <a:fillRect/>
          </a:stretch>
        </p:blipFill>
        <p:spPr>
          <a:xfrm>
            <a:off x="838201" y="1254180"/>
            <a:ext cx="2652154" cy="4761399"/>
          </a:xfrm>
          <a:prstGeom prst="rect">
            <a:avLst/>
          </a:prstGeom>
        </p:spPr>
      </p:pic>
      <p:pic>
        <p:nvPicPr>
          <p:cNvPr id="10" name="Picture 9">
            <a:extLst>
              <a:ext uri="{FF2B5EF4-FFF2-40B4-BE49-F238E27FC236}">
                <a16:creationId xmlns:a16="http://schemas.microsoft.com/office/drawing/2014/main" id="{2D8C726C-8B6E-4227-A22F-290C3D72BEF9}"/>
              </a:ext>
            </a:extLst>
          </p:cNvPr>
          <p:cNvPicPr>
            <a:picLocks noChangeAspect="1"/>
          </p:cNvPicPr>
          <p:nvPr/>
        </p:nvPicPr>
        <p:blipFill>
          <a:blip r:embed="rId4"/>
          <a:stretch>
            <a:fillRect/>
          </a:stretch>
        </p:blipFill>
        <p:spPr>
          <a:xfrm>
            <a:off x="4797085" y="1254180"/>
            <a:ext cx="2652154" cy="4761399"/>
          </a:xfrm>
          <a:prstGeom prst="rect">
            <a:avLst/>
          </a:prstGeom>
        </p:spPr>
      </p:pic>
      <p:pic>
        <p:nvPicPr>
          <p:cNvPr id="12" name="Picture 11">
            <a:extLst>
              <a:ext uri="{FF2B5EF4-FFF2-40B4-BE49-F238E27FC236}">
                <a16:creationId xmlns:a16="http://schemas.microsoft.com/office/drawing/2014/main" id="{ACF750F7-7DD6-E365-A89D-1AC2A0954D67}"/>
              </a:ext>
            </a:extLst>
          </p:cNvPr>
          <p:cNvPicPr>
            <a:picLocks noChangeAspect="1"/>
          </p:cNvPicPr>
          <p:nvPr/>
        </p:nvPicPr>
        <p:blipFill>
          <a:blip r:embed="rId5"/>
          <a:stretch>
            <a:fillRect/>
          </a:stretch>
        </p:blipFill>
        <p:spPr>
          <a:xfrm>
            <a:off x="8860221" y="1254180"/>
            <a:ext cx="2493579" cy="4761399"/>
          </a:xfrm>
          <a:prstGeom prst="rect">
            <a:avLst/>
          </a:prstGeom>
        </p:spPr>
      </p:pic>
    </p:spTree>
    <p:extLst>
      <p:ext uri="{BB962C8B-B14F-4D97-AF65-F5344CB8AC3E}">
        <p14:creationId xmlns:p14="http://schemas.microsoft.com/office/powerpoint/2010/main" val="936820326"/>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FEBD71AE-257D-7AF1-5F0D-27F9B7AB0943}"/>
            </a:ext>
          </a:extLst>
        </p:cNvPr>
        <p:cNvGrpSpPr/>
        <p:nvPr/>
      </p:nvGrpSpPr>
      <p:grpSpPr>
        <a:xfrm>
          <a:off x="0" y="0"/>
          <a:ext cx="0" cy="0"/>
          <a:chOff x="0" y="0"/>
          <a:chExt cx="0" cy="0"/>
        </a:xfrm>
      </p:grpSpPr>
      <p:sp>
        <p:nvSpPr>
          <p:cNvPr id="100" name="Google Shape;100;p14">
            <a:extLst>
              <a:ext uri="{FF2B5EF4-FFF2-40B4-BE49-F238E27FC236}">
                <a16:creationId xmlns:a16="http://schemas.microsoft.com/office/drawing/2014/main" id="{7B36759A-7AA2-E64D-EDAA-8BD8AC758DB8}"/>
              </a:ext>
            </a:extLst>
          </p:cNvPr>
          <p:cNvSpPr txBox="1"/>
          <p:nvPr/>
        </p:nvSpPr>
        <p:spPr>
          <a:xfrm>
            <a:off x="0" y="-4163"/>
            <a:ext cx="12192000" cy="1258343"/>
          </a:xfrm>
          <a:prstGeom prst="rect">
            <a:avLst/>
          </a:prstGeom>
          <a:noFill/>
          <a:ln>
            <a:noFill/>
          </a:ln>
          <a:effectLst>
            <a:outerShdw blurRad="25400">
              <a:srgbClr val="000000">
                <a:alpha val="45490"/>
              </a:srgbClr>
            </a:outerShdw>
          </a:effectLst>
        </p:spPr>
        <p:txBody>
          <a:bodyPr spcFirstLastPara="1" wrap="square" lIns="91425" tIns="45700" rIns="91425" bIns="45700" anchor="ctr" anchorCtr="0">
            <a:normAutofit/>
          </a:bodyPr>
          <a:lstStyle/>
          <a:p>
            <a:pPr lvl="0" algn="ctr">
              <a:buClr>
                <a:schemeClr val="dk1"/>
              </a:buClr>
              <a:buSzPts val="4800"/>
            </a:pPr>
            <a:r>
              <a:rPr lang="en-US" sz="4000" b="1" dirty="0">
                <a:solidFill>
                  <a:schemeClr val="dk1"/>
                </a:solidFill>
                <a:latin typeface="Times New Roman"/>
                <a:ea typeface="Times New Roman"/>
                <a:cs typeface="Times New Roman"/>
                <a:sym typeface="Times New Roman"/>
              </a:rPr>
              <a:t>CONCLUSION &amp; FUTURE ENHANCEMENTS</a:t>
            </a:r>
            <a:endParaRPr lang="en-US" sz="4000" b="1" i="0" u="none" strike="noStrike" cap="none" dirty="0">
              <a:solidFill>
                <a:schemeClr val="dk2"/>
              </a:solidFill>
              <a:latin typeface="Times New Roman"/>
              <a:ea typeface="Times New Roman"/>
              <a:cs typeface="Times New Roman"/>
              <a:sym typeface="Times New Roman"/>
            </a:endParaRPr>
          </a:p>
        </p:txBody>
      </p:sp>
      <p:sp>
        <p:nvSpPr>
          <p:cNvPr id="101" name="Google Shape;101;p14">
            <a:extLst>
              <a:ext uri="{FF2B5EF4-FFF2-40B4-BE49-F238E27FC236}">
                <a16:creationId xmlns:a16="http://schemas.microsoft.com/office/drawing/2014/main" id="{4EDDD38D-DD9A-EF0F-C6F0-1A2D7392D1DF}"/>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14</a:t>
            </a:fld>
            <a:endParaRPr/>
          </a:p>
        </p:txBody>
      </p:sp>
      <p:sp>
        <p:nvSpPr>
          <p:cNvPr id="3" name="TextBox 2">
            <a:extLst>
              <a:ext uri="{FF2B5EF4-FFF2-40B4-BE49-F238E27FC236}">
                <a16:creationId xmlns:a16="http://schemas.microsoft.com/office/drawing/2014/main" id="{A41D2340-682F-3DEE-3B01-2A7CD30D0282}"/>
              </a:ext>
            </a:extLst>
          </p:cNvPr>
          <p:cNvSpPr txBox="1"/>
          <p:nvPr/>
        </p:nvSpPr>
        <p:spPr>
          <a:xfrm>
            <a:off x="1930400" y="4429074"/>
            <a:ext cx="8331200" cy="523220"/>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5A91E5F-5E73-C9CE-CDF3-77E938E09F93}"/>
              </a:ext>
            </a:extLst>
          </p:cNvPr>
          <p:cNvSpPr txBox="1"/>
          <p:nvPr/>
        </p:nvSpPr>
        <p:spPr>
          <a:xfrm>
            <a:off x="1072054" y="1254180"/>
            <a:ext cx="10089932" cy="5115311"/>
          </a:xfrm>
          <a:prstGeom prst="rect">
            <a:avLst/>
          </a:prstGeom>
          <a:noFill/>
        </p:spPr>
        <p:txBody>
          <a:bodyPr wrap="square">
            <a:spAutoFit/>
          </a:bodyPr>
          <a:lstStyle/>
          <a:p>
            <a:pPr algn="just">
              <a:lnSpc>
                <a:spcPct val="150000"/>
              </a:lnSpc>
            </a:pPr>
            <a:r>
              <a:rPr lang="en-US" sz="2000" dirty="0">
                <a:latin typeface="Times New Roman" panose="02020603050405020304" pitchFamily="18" charset="0"/>
                <a:cs typeface="Times New Roman" panose="02020603050405020304" pitchFamily="18" charset="0"/>
              </a:rPr>
              <a:t>This project demonstrates a smart energy monitoring system using IoT that can measure real-time power consumption effectively. The system has been successfully implemented with hardware setup and basic testing, showing stable performance under normal conditions. It provides a foundation for detecting abnormal energy usage and can be further enhanced to identify electricity theft accurately.</a:t>
            </a: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Future Enhancements </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Implement advanced AI-based anomaly detection</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Integrate cloud platform for remote monitoring &amp; Develop mobile app for real-time alerts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Improve accuracy using calibration techniques</a:t>
            </a:r>
          </a:p>
          <a:p>
            <a:pPr marL="342900" indent="-342900" algn="just">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Extend system for large-scale smart grid applications</a:t>
            </a:r>
          </a:p>
        </p:txBody>
      </p:sp>
    </p:spTree>
    <p:extLst>
      <p:ext uri="{BB962C8B-B14F-4D97-AF65-F5344CB8AC3E}">
        <p14:creationId xmlns:p14="http://schemas.microsoft.com/office/powerpoint/2010/main" val="3940242228"/>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3"/>
          <p:cNvSpPr txBox="1">
            <a:spLocks noGrp="1"/>
          </p:cNvSpPr>
          <p:nvPr>
            <p:ph type="title"/>
          </p:nvPr>
        </p:nvSpPr>
        <p:spPr>
          <a:xfrm>
            <a:off x="2274211" y="2943775"/>
            <a:ext cx="7643578" cy="97045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12000"/>
              <a:buFont typeface="Arial"/>
              <a:buNone/>
            </a:pPr>
            <a:r>
              <a:rPr lang="en-US" sz="6000" b="1" dirty="0">
                <a:latin typeface="Times New Roman"/>
                <a:ea typeface="Times New Roman"/>
                <a:cs typeface="Times New Roman"/>
                <a:sym typeface="Times New Roman"/>
              </a:rPr>
              <a:t>Thank You</a:t>
            </a:r>
            <a:endParaRPr sz="6000" b="1" dirty="0">
              <a:latin typeface="Times New Roman"/>
              <a:ea typeface="Times New Roman"/>
              <a:cs typeface="Times New Roman"/>
              <a:sym typeface="Times New Roman"/>
            </a:endParaRPr>
          </a:p>
        </p:txBody>
      </p:sp>
      <p:sp>
        <p:nvSpPr>
          <p:cNvPr id="164" name="Google Shape;164;p23"/>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771</TotalTime>
  <Words>770</Words>
  <Application>Microsoft Office PowerPoint</Application>
  <PresentationFormat>Widescreen</PresentationFormat>
  <Paragraphs>121</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Noto Sans Symbols</vt:lpstr>
      <vt:lpstr>Times New Roman</vt:lpstr>
      <vt:lpstr>Wingdings</vt:lpstr>
      <vt:lpstr>Office Theme</vt:lpstr>
      <vt:lpstr>PowerPoint Presentation</vt:lpstr>
      <vt:lpstr>PowerPoint Presentation</vt:lpstr>
      <vt:lpstr>PROBLEM STATEMENT</vt:lpstr>
      <vt:lpstr>RESEARCH OBJECTIVE </vt:lpstr>
      <vt:lpstr>EXISTING SYSTEM </vt:lpstr>
      <vt:lpstr>PROPOSED SYSTEM</vt:lpstr>
      <vt:lpstr>SYSTEM ARCHITECTURE</vt:lpstr>
      <vt:lpstr>PowerPoint Presentation</vt:lpstr>
      <vt:lpstr>PowerPoint Presentation</vt:lpstr>
      <vt:lpstr>WORKING PRINCIPLE</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dc:creator>
  <cp:lastModifiedBy>VIMAL AANANTH BR</cp:lastModifiedBy>
  <cp:revision>15</cp:revision>
  <dcterms:modified xsi:type="dcterms:W3CDTF">2026-05-01T03:38:04Z</dcterms:modified>
</cp:coreProperties>
</file>